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8288000" cy="10287000"/>
  <p:notesSz cx="6858000" cy="9144000"/>
  <p:embeddedFontLst>
    <p:embeddedFont>
      <p:font typeface="Montserrat" panose="00000500000000000000" pitchFamily="2" charset="0"/>
      <p:regular r:id="rId14"/>
    </p:embeddedFont>
    <p:embeddedFont>
      <p:font typeface="Montserrat Bold" panose="020B0604020202020204" charset="0"/>
      <p:regular r:id="rId15"/>
    </p:embeddedFont>
    <p:embeddedFont>
      <p:font typeface="Source Sans 3" panose="020B0604020202020204" charset="0"/>
      <p:regular r:id="rId16"/>
    </p:embeddedFont>
    <p:embeddedFont>
      <p:font typeface="Source Sans 3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4A01BC-5361-41FA-865D-E43AB3F0326B}" v="9" dt="2026-01-18T04:43:28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68" autoAdjust="0"/>
    <p:restoredTop sz="94622" autoAdjust="0"/>
  </p:normalViewPr>
  <p:slideViewPr>
    <p:cSldViewPr>
      <p:cViewPr varScale="1">
        <p:scale>
          <a:sx n="43" d="100"/>
          <a:sy n="43" d="100"/>
        </p:scale>
        <p:origin x="65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139450" y="1497293"/>
            <a:ext cx="9270502" cy="262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Discovering Common Molecular Pathways Between SARS-CoV-2 and Alzheimer’s Disease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46989" y="8438590"/>
            <a:ext cx="8655424" cy="473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4"/>
              </a:lnSpc>
              <a:spcBef>
                <a:spcPct val="0"/>
              </a:spcBef>
            </a:pPr>
            <a:r>
              <a:rPr lang="en-US" sz="28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by: PHD. Muhammed Mahmoud Elsayeh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61096" y="5245872"/>
            <a:ext cx="6841093" cy="206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6"/>
              </a:lnSpc>
              <a:spcBef>
                <a:spcPct val="0"/>
              </a:spcBef>
            </a:pPr>
            <a:r>
              <a:rPr lang="en-US" sz="25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</a:p>
          <a:p>
            <a:pPr algn="ctr">
              <a:lnSpc>
                <a:spcPts val="3226"/>
              </a:lnSpc>
              <a:spcBef>
                <a:spcPct val="0"/>
              </a:spcBef>
            </a:pPr>
            <a:r>
              <a:rPr lang="en-US" sz="25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Inji Hatem Amin                                ID:231000596</a:t>
            </a:r>
          </a:p>
          <a:p>
            <a:pPr algn="ctr">
              <a:lnSpc>
                <a:spcPts val="3226"/>
              </a:lnSpc>
              <a:spcBef>
                <a:spcPct val="0"/>
              </a:spcBef>
            </a:pPr>
            <a:r>
              <a:rPr lang="en-US" sz="25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Amira Momtaz Mohamed                   ID:231001071</a:t>
            </a:r>
          </a:p>
          <a:p>
            <a:pPr algn="ctr">
              <a:lnSpc>
                <a:spcPts val="3226"/>
              </a:lnSpc>
              <a:spcBef>
                <a:spcPct val="0"/>
              </a:spcBef>
            </a:pPr>
            <a:r>
              <a:rPr lang="en-US" sz="25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Rowan Atef Nour Eldin                      ID:231001403</a:t>
            </a:r>
          </a:p>
          <a:p>
            <a:pPr algn="ctr">
              <a:lnSpc>
                <a:spcPts val="3226"/>
              </a:lnSpc>
              <a:spcBef>
                <a:spcPct val="0"/>
              </a:spcBef>
            </a:pPr>
            <a:r>
              <a:rPr lang="en-US" sz="25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Youssef Rabeay Younes                      ID:231001982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11633" y="9229725"/>
            <a:ext cx="2367558" cy="363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9"/>
              </a:lnSpc>
              <a:spcBef>
                <a:spcPct val="0"/>
              </a:spcBef>
            </a:pPr>
            <a:r>
              <a:rPr lang="en-US" sz="22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CBIO311_CBIO310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9830" y="766610"/>
            <a:ext cx="16288341" cy="1642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06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Global Health Intersection: Unraveling the Neurological Aftermath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9830" y="3082376"/>
            <a:ext cx="9494196" cy="272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34"/>
              </a:lnSpc>
              <a:buFont typeface="Arial"/>
              <a:buChar char="•"/>
            </a:pPr>
            <a:r>
              <a:rPr lang="en-US" sz="24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With over 750 million reported cases, SARS-CoV-2 has left a profound mark on global health. A significant concern is the approximately 30% of COVID-19 patients experiencing persistent neurological symptoms, hinting at a deeper connection to neurodegeneration. This intersection prompts critical questions about long-term neurological health outcomes.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11200362" y="3158576"/>
            <a:ext cx="6097191" cy="6097191"/>
          </a:xfrm>
          <a:custGeom>
            <a:avLst/>
            <a:gdLst/>
            <a:ahLst/>
            <a:cxnLst/>
            <a:rect l="l" t="t" r="r" b="b"/>
            <a:pathLst>
              <a:path w="6097191" h="6097191">
                <a:moveTo>
                  <a:pt x="0" y="0"/>
                </a:moveTo>
                <a:lnTo>
                  <a:pt x="6097190" y="0"/>
                </a:lnTo>
                <a:lnTo>
                  <a:pt x="6097190" y="6097190"/>
                </a:lnTo>
                <a:lnTo>
                  <a:pt x="0" y="60971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272818"/>
          </a:xfrm>
          <a:custGeom>
            <a:avLst/>
            <a:gdLst/>
            <a:ahLst/>
            <a:cxnLst/>
            <a:rect l="l" t="t" r="r" b="b"/>
            <a:pathLst>
              <a:path w="18288000" h="1272818">
                <a:moveTo>
                  <a:pt x="0" y="0"/>
                </a:moveTo>
                <a:lnTo>
                  <a:pt x="18288000" y="0"/>
                </a:lnTo>
                <a:lnTo>
                  <a:pt x="18288000" y="1272818"/>
                </a:lnTo>
                <a:lnTo>
                  <a:pt x="0" y="1272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7713" r="-177713" b="-3335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91376" y="1244243"/>
            <a:ext cx="17905248" cy="172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4"/>
              </a:lnSpc>
              <a:spcBef>
                <a:spcPct val="0"/>
              </a:spcBef>
            </a:pPr>
            <a:r>
              <a:rPr lang="en-US" sz="5499" b="1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Hypothesis: Shared Pathways in COVID‑19 and Alzheimer’s Diseas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222907" y="3647153"/>
            <a:ext cx="17312618" cy="435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0548" lvl="1" indent="-295274" algn="just">
              <a:lnSpc>
                <a:spcPts val="3419"/>
              </a:lnSpc>
              <a:buFont typeface="Arial"/>
              <a:buChar char="•"/>
            </a:pPr>
            <a:r>
              <a:rPr lang="en-US" sz="27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 hypothesized that a small set of common DEGs could be shared between the two conditions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222907" y="4696136"/>
            <a:ext cx="18288000" cy="77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66" lvl="1" indent="-269883" algn="l">
              <a:lnSpc>
                <a:spcPts val="3125"/>
              </a:lnSpc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These genes were expected to be involved in inflammatory and metabolic pathways (cytokine regulation, folate metabolism, mitochondrial function, NF‑</a:t>
            </a:r>
            <a:r>
              <a:rPr lang="en-US" sz="25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κB</a:t>
            </a:r>
            <a:r>
              <a:rPr lang="en-US" sz="25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signaling).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222907" y="5781675"/>
            <a:ext cx="18510907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45" lvl="1" indent="-291472" algn="l">
              <a:lnSpc>
                <a:spcPts val="3375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convergence of several DEGs across these pathways would provide evidence for a molecular intersection.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222907" y="6859905"/>
            <a:ext cx="16230600" cy="1008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92" lvl="1" indent="-345446" algn="l">
              <a:lnSpc>
                <a:spcPts val="4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Such overlap could amplify inflammatory stress and metabolic dysfunction, accelerating neuronal damage and cognitive decline.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8827135"/>
            <a:ext cx="18288000" cy="81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55" lvl="1" indent="-280678" algn="l">
              <a:lnSpc>
                <a:spcPts val="325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Identifying multiple shared DEGs may highlight potential therapeutic targets addressing both immune activation and neurodegeneration.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10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288464" y="4160248"/>
            <a:ext cx="16128502" cy="538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710" lvl="1" indent="-310355" algn="l">
              <a:lnSpc>
                <a:spcPts val="4388"/>
              </a:lnSpc>
              <a:buFont typeface="Arial"/>
              <a:buChar char="•"/>
            </a:pPr>
            <a:r>
              <a:rPr lang="en-US" sz="2874">
                <a:solidFill>
                  <a:srgbClr val="3D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Aim: Explore shared disruptions pathways between COVID-19 &amp; Alzheimer’s.</a:t>
            </a:r>
          </a:p>
        </p:txBody>
      </p:sp>
      <p:sp>
        <p:nvSpPr>
          <p:cNvPr id="5" name="Freeform 5" descr="preencoded.png"/>
          <p:cNvSpPr/>
          <p:nvPr/>
        </p:nvSpPr>
        <p:spPr>
          <a:xfrm>
            <a:off x="1079744" y="4090835"/>
            <a:ext cx="2888752" cy="2888752"/>
          </a:xfrm>
          <a:custGeom>
            <a:avLst/>
            <a:gdLst/>
            <a:ahLst/>
            <a:cxnLst/>
            <a:rect l="l" t="t" r="r" b="b"/>
            <a:pathLst>
              <a:path w="2888752" h="2888752">
                <a:moveTo>
                  <a:pt x="0" y="0"/>
                </a:moveTo>
                <a:lnTo>
                  <a:pt x="2888752" y="0"/>
                </a:lnTo>
                <a:lnTo>
                  <a:pt x="2888752" y="2888752"/>
                </a:lnTo>
                <a:lnTo>
                  <a:pt x="0" y="2888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79744" y="853678"/>
            <a:ext cx="16128502" cy="88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Methodology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8496" y="3240551"/>
            <a:ext cx="11218334" cy="57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8"/>
              </a:lnSpc>
            </a:pPr>
            <a:r>
              <a:rPr lang="en-US" sz="3612">
                <a:solidFill>
                  <a:srgbClr val="3D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COVID-19 &amp; Alzheimer’s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34025" y="5029200"/>
            <a:ext cx="9425393" cy="532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9121" lvl="1" indent="-299560" algn="l">
              <a:lnSpc>
                <a:spcPts val="4235"/>
              </a:lnSpc>
              <a:buFont typeface="Arial"/>
              <a:buChar char="•"/>
            </a:pPr>
            <a:r>
              <a:rPr lang="en-US" sz="2774" dirty="0">
                <a:solidFill>
                  <a:srgbClr val="3D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Data: GSE164332 (COVID-19), GSE122063 (Alzheimer’s).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68496" y="5923848"/>
            <a:ext cx="5396984" cy="504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9121" lvl="1" indent="-299560" algn="ctr">
              <a:lnSpc>
                <a:spcPts val="4235"/>
              </a:lnSpc>
              <a:buFont typeface="Arial"/>
              <a:buChar char="•"/>
            </a:pPr>
            <a:r>
              <a:rPr lang="en-US" sz="2774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DEGs: |log₂FC| &gt; 1.1, adj. p &lt; 0.05.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27085" y="6561320"/>
            <a:ext cx="10279142" cy="538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710" lvl="1" indent="-310355" algn="ctr">
              <a:lnSpc>
                <a:spcPts val="4388"/>
              </a:lnSpc>
              <a:buFont typeface="Arial"/>
              <a:buChar char="•"/>
            </a:pPr>
            <a:r>
              <a:rPr lang="en-US" sz="28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Pathways: KEGG enrichment, validated with Enrichr &amp; pathview.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02445" y="5186472"/>
            <a:ext cx="6768119" cy="3807067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l="-18144" r="-181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895307" y="5186472"/>
            <a:ext cx="6768119" cy="3807067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4"/>
              <a:stretch>
                <a:fillRect l="-9724" r="-972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0" y="4396600"/>
            <a:ext cx="14028939" cy="532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9121" lvl="1" indent="-299560" algn="ctr">
              <a:lnSpc>
                <a:spcPts val="4235"/>
              </a:lnSpc>
              <a:buFont typeface="Arial"/>
              <a:buChar char="•"/>
            </a:pPr>
            <a:r>
              <a:rPr lang="en-US" sz="27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 Shared transcriptional signatures; COVID-19 may affect neurodegeneration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6440" y="206493"/>
            <a:ext cx="11897468" cy="822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0"/>
              </a:lnSpc>
            </a:pPr>
            <a:r>
              <a:rPr lang="en-US" sz="50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Results &amp; Figures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795" y="1834287"/>
            <a:ext cx="11897468" cy="505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8322" lvl="1" indent="-294161" algn="l">
              <a:lnSpc>
                <a:spcPts val="4087"/>
              </a:lnSpc>
              <a:buFont typeface="Arial"/>
              <a:buChar char="•"/>
            </a:pPr>
            <a:r>
              <a:rPr lang="en-US" sz="2724">
                <a:solidFill>
                  <a:srgbClr val="3D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Upregulated: Hippo signaling, Apoptosis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02026" y="2528816"/>
            <a:ext cx="11225208" cy="490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5713" lvl="1" indent="-197856" algn="l">
              <a:lnSpc>
                <a:spcPts val="3937"/>
              </a:lnSpc>
              <a:buFont typeface="Arial"/>
              <a:buChar char="•"/>
            </a:pPr>
            <a:r>
              <a:rPr lang="en-US" sz="2624">
                <a:solidFill>
                  <a:srgbClr val="3D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Downregulated: Oxidative Phosphorylation, Alzheimer’s pathways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63967" y="3124130"/>
            <a:ext cx="6008181" cy="532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9121" lvl="1" indent="-299560" algn="ctr">
              <a:lnSpc>
                <a:spcPts val="4235"/>
              </a:lnSpc>
              <a:buFont typeface="Arial"/>
              <a:buChar char="•"/>
            </a:pPr>
            <a:r>
              <a:rPr lang="en-US" sz="27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Volcano plot: Red = up, Blue = down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63967" y="3761602"/>
            <a:ext cx="7039123" cy="532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9121" lvl="1" indent="-299560" algn="ctr">
              <a:lnSpc>
                <a:spcPts val="4235"/>
              </a:lnSpc>
              <a:buFont typeface="Arial"/>
              <a:buChar char="•"/>
            </a:pPr>
            <a:r>
              <a:rPr lang="en-US" sz="27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Heatmap: Red = high, Blue = low expression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34482" y="314960"/>
            <a:ext cx="15097710" cy="713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9"/>
              </a:lnSpc>
              <a:spcBef>
                <a:spcPct val="0"/>
              </a:spcBef>
            </a:pPr>
            <a:r>
              <a:rPr lang="en-US" sz="4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GSEA (Gene Set Enrichment Analysis)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75195" y="1747093"/>
            <a:ext cx="11262717" cy="45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5"/>
              </a:lnSpc>
            </a:pPr>
            <a:r>
              <a:rPr lang="en-US" sz="2499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GSEA  used to determine if a predefined group of genes shows statistically significant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8631D-90E3-1808-8B4F-AF2A450B3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182" y="2628900"/>
            <a:ext cx="15472218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774599"/>
          </a:xfrm>
          <a:custGeom>
            <a:avLst/>
            <a:gdLst/>
            <a:ahLst/>
            <a:cxnLst/>
            <a:rect l="l" t="t" r="r" b="b"/>
            <a:pathLst>
              <a:path w="18288000" h="774599">
                <a:moveTo>
                  <a:pt x="0" y="0"/>
                </a:moveTo>
                <a:lnTo>
                  <a:pt x="18288000" y="0"/>
                </a:lnTo>
                <a:lnTo>
                  <a:pt x="18288000" y="774599"/>
                </a:lnTo>
                <a:lnTo>
                  <a:pt x="0" y="77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034" b="-483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475559" y="3445864"/>
            <a:ext cx="7656182" cy="5524393"/>
          </a:xfrm>
          <a:custGeom>
            <a:avLst/>
            <a:gdLst/>
            <a:ahLst/>
            <a:cxnLst/>
            <a:rect l="l" t="t" r="r" b="b"/>
            <a:pathLst>
              <a:path w="7656182" h="5524393">
                <a:moveTo>
                  <a:pt x="0" y="0"/>
                </a:moveTo>
                <a:lnTo>
                  <a:pt x="7656182" y="0"/>
                </a:lnTo>
                <a:lnTo>
                  <a:pt x="7656182" y="5524392"/>
                </a:lnTo>
                <a:lnTo>
                  <a:pt x="0" y="552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835" b="-34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0" y="1000125"/>
            <a:ext cx="16279430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4"/>
              </a:lnSpc>
              <a:spcBef>
                <a:spcPct val="0"/>
              </a:spcBef>
            </a:pPr>
            <a:r>
              <a:rPr lang="en-US" sz="5499" b="1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KEGG 2021 Human Pathway Enrichment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9556" y="5331125"/>
            <a:ext cx="8624888" cy="174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2.RNA transport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Showed weaker enrichment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Reflects general regulation of gene expression and cellular stress responses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2592231"/>
            <a:ext cx="9144000" cy="227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25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1.Folate biosynthesis</a:t>
            </a:r>
          </a:p>
          <a:p>
            <a:pPr marL="626123" lvl="1" indent="-313062" algn="just">
              <a:lnSpc>
                <a:spcPts val="3625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Identified as the most relevant pathway in the analysis</a:t>
            </a:r>
          </a:p>
          <a:p>
            <a:pPr marL="626123" lvl="1" indent="-313062" algn="just">
              <a:lnSpc>
                <a:spcPts val="3625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Linked to DNA synthesis, repair, and neuroinflammation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9556" y="7808895"/>
            <a:ext cx="9849876" cy="218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3.Pathogenic Escherichia coli infection</a:t>
            </a:r>
          </a:p>
          <a:p>
            <a:pPr marL="604534" lvl="1" indent="-302267" algn="l">
              <a:lnSpc>
                <a:spcPts val="35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Showed weaker enrichment</a:t>
            </a:r>
          </a:p>
          <a:p>
            <a:pPr algn="l">
              <a:lnSpc>
                <a:spcPts val="3500"/>
              </a:lnSpc>
            </a:pPr>
            <a:endParaRPr lang="en-US" sz="28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04534" lvl="1" indent="-302267" algn="l">
              <a:lnSpc>
                <a:spcPts val="35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May indicate immune activation but not a core shared pathway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95381" y="4281598"/>
            <a:ext cx="5282875" cy="2652502"/>
            <a:chOff x="0" y="0"/>
            <a:chExt cx="7043833" cy="3536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43846" cy="3536733"/>
            </a:xfrm>
            <a:custGeom>
              <a:avLst/>
              <a:gdLst/>
              <a:ahLst/>
              <a:cxnLst/>
              <a:rect l="l" t="t" r="r" b="b"/>
              <a:pathLst>
                <a:path w="7043846" h="3536733">
                  <a:moveTo>
                    <a:pt x="0" y="0"/>
                  </a:moveTo>
                  <a:lnTo>
                    <a:pt x="7043846" y="0"/>
                  </a:lnTo>
                  <a:lnTo>
                    <a:pt x="7043846" y="3536733"/>
                  </a:lnTo>
                  <a:lnTo>
                    <a:pt x="0" y="3536733"/>
                  </a:ln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49490" y="1492527"/>
            <a:ext cx="5057532" cy="2652502"/>
            <a:chOff x="0" y="0"/>
            <a:chExt cx="6743376" cy="35366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43388" cy="3536733"/>
            </a:xfrm>
            <a:custGeom>
              <a:avLst/>
              <a:gdLst/>
              <a:ahLst/>
              <a:cxnLst/>
              <a:rect l="l" t="t" r="r" b="b"/>
              <a:pathLst>
                <a:path w="6743388" h="3536733">
                  <a:moveTo>
                    <a:pt x="0" y="0"/>
                  </a:moveTo>
                  <a:lnTo>
                    <a:pt x="6743388" y="0"/>
                  </a:lnTo>
                  <a:lnTo>
                    <a:pt x="6743388" y="3536733"/>
                  </a:lnTo>
                  <a:lnTo>
                    <a:pt x="0" y="3536733"/>
                  </a:ln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654071" y="7067451"/>
            <a:ext cx="6390389" cy="2945448"/>
            <a:chOff x="0" y="0"/>
            <a:chExt cx="8520519" cy="39272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20531" cy="3927328"/>
            </a:xfrm>
            <a:custGeom>
              <a:avLst/>
              <a:gdLst/>
              <a:ahLst/>
              <a:cxnLst/>
              <a:rect l="l" t="t" r="r" b="b"/>
              <a:pathLst>
                <a:path w="8520531" h="3927328">
                  <a:moveTo>
                    <a:pt x="0" y="0"/>
                  </a:moveTo>
                  <a:lnTo>
                    <a:pt x="8520531" y="0"/>
                  </a:lnTo>
                  <a:lnTo>
                    <a:pt x="8520531" y="3927328"/>
                  </a:lnTo>
                  <a:lnTo>
                    <a:pt x="0" y="3927328"/>
                  </a:ln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093031" y="1798417"/>
            <a:ext cx="5194969" cy="2045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566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Purpose:</a:t>
            </a:r>
          </a:p>
          <a:p>
            <a:pPr marL="457271" lvl="1" indent="-228635" algn="l">
              <a:lnSpc>
                <a:spcPts val="2675"/>
              </a:lnSpc>
              <a:buFont typeface="Arial"/>
              <a:buChar char="•"/>
            </a:pPr>
            <a:r>
              <a:rPr lang="en-US" sz="2117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Identify differentially expressed genes (DEGs) in two datasets.</a:t>
            </a:r>
          </a:p>
          <a:p>
            <a:pPr marL="457271" lvl="1" indent="-228635" algn="l">
              <a:lnSpc>
                <a:spcPts val="2675"/>
              </a:lnSpc>
              <a:buFont typeface="Arial"/>
              <a:buChar char="•"/>
            </a:pPr>
            <a:r>
              <a:rPr lang="en-US" sz="2117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Visualize overlap and unique genes between studies.</a:t>
            </a:r>
          </a:p>
          <a:p>
            <a:pPr algn="l">
              <a:lnSpc>
                <a:spcPts val="2415"/>
              </a:lnSpc>
            </a:pPr>
            <a:endParaRPr lang="en-US" sz="2117">
              <a:solidFill>
                <a:srgbClr val="3D38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319609" y="4621453"/>
            <a:ext cx="5370907" cy="1963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499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Filtering Criteria:</a:t>
            </a:r>
          </a:p>
          <a:p>
            <a:pPr marL="426923" lvl="1" indent="-213462" algn="l">
              <a:lnSpc>
                <a:spcPts val="2497"/>
              </a:lnSpc>
              <a:buFont typeface="Arial"/>
              <a:buChar char="•"/>
            </a:pPr>
            <a:r>
              <a:rPr lang="en-US" sz="1977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Adjusted p-value &lt; 0.05 (statistically significant).</a:t>
            </a:r>
          </a:p>
          <a:p>
            <a:pPr marL="426923" lvl="1" indent="-213462" algn="l">
              <a:lnSpc>
                <a:spcPts val="2497"/>
              </a:lnSpc>
              <a:buFont typeface="Arial"/>
              <a:buChar char="•"/>
            </a:pPr>
            <a:r>
              <a:rPr lang="en-US" sz="1977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|log2 Fold Change| &gt; 1.1 (biologically meaningful).</a:t>
            </a:r>
          </a:p>
          <a:p>
            <a:pPr algn="l">
              <a:lnSpc>
                <a:spcPts val="2497"/>
              </a:lnSpc>
            </a:pPr>
            <a:endParaRPr lang="en-US" sz="1977">
              <a:solidFill>
                <a:srgbClr val="3D38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021144" y="118854"/>
            <a:ext cx="7202587" cy="735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19"/>
              </a:lnSpc>
              <a:spcBef>
                <a:spcPct val="0"/>
              </a:spcBef>
            </a:pPr>
            <a:r>
              <a:rPr lang="en-US" sz="4074" b="1" dirty="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Venn Diagram Code &amp; Plot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98823" y="7353201"/>
            <a:ext cx="6289177" cy="3067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3"/>
              </a:lnSpc>
            </a:pPr>
            <a:r>
              <a:rPr lang="en-US" sz="2536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 Functions:</a:t>
            </a:r>
          </a:p>
          <a:p>
            <a:pPr marL="461213" lvl="1" indent="-230606" algn="l">
              <a:lnSpc>
                <a:spcPts val="2698"/>
              </a:lnSpc>
              <a:buFont typeface="Arial"/>
              <a:buChar char="•"/>
            </a:pPr>
            <a:r>
              <a:rPr lang="en-US" sz="2136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Data extraction - Filter significant genes from both datasets</a:t>
            </a:r>
          </a:p>
          <a:p>
            <a:pPr marL="461213" lvl="1" indent="-230606" algn="l">
              <a:lnSpc>
                <a:spcPts val="2698"/>
              </a:lnSpc>
              <a:buFont typeface="Arial"/>
              <a:buChar char="•"/>
            </a:pPr>
            <a:r>
              <a:rPr lang="en-US" sz="2136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Quality control - Remove missing values (NA)</a:t>
            </a:r>
          </a:p>
          <a:p>
            <a:pPr marL="461213" lvl="1" indent="-230606" algn="l">
              <a:lnSpc>
                <a:spcPts val="2698"/>
              </a:lnSpc>
              <a:buFont typeface="Arial"/>
              <a:buChar char="•"/>
            </a:pPr>
            <a:r>
              <a:rPr lang="en-US" sz="2136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Summary statistics - Count DEGs in each dataset and shared genes</a:t>
            </a:r>
          </a:p>
          <a:p>
            <a:pPr algn="l">
              <a:lnSpc>
                <a:spcPts val="2698"/>
              </a:lnSpc>
            </a:pPr>
            <a:endParaRPr lang="en-US" sz="2136">
              <a:solidFill>
                <a:srgbClr val="3D38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698"/>
              </a:lnSpc>
            </a:pPr>
            <a:endParaRPr lang="en-US" sz="2136">
              <a:solidFill>
                <a:srgbClr val="3D38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FBFE343-772D-DB75-FD49-2B421EFB6A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7" y="854852"/>
            <a:ext cx="8630587" cy="647416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D632F5A-0BE3-1FD4-8771-958E49547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6" y="7353201"/>
            <a:ext cx="7585024" cy="28120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00395" y="3848100"/>
            <a:ext cx="8301804" cy="3837097"/>
            <a:chOff x="0" y="0"/>
            <a:chExt cx="6606956" cy="3053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6969" cy="3053801"/>
            </a:xfrm>
            <a:custGeom>
              <a:avLst/>
              <a:gdLst/>
              <a:ahLst/>
              <a:cxnLst/>
              <a:rect l="l" t="t" r="r" b="b"/>
              <a:pathLst>
                <a:path w="6606969" h="3053801">
                  <a:moveTo>
                    <a:pt x="0" y="0"/>
                  </a:moveTo>
                  <a:lnTo>
                    <a:pt x="6606969" y="0"/>
                  </a:lnTo>
                  <a:lnTo>
                    <a:pt x="6606969" y="3053801"/>
                  </a:lnTo>
                  <a:lnTo>
                    <a:pt x="0" y="3053801"/>
                  </a:ln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556078" y="1932414"/>
            <a:ext cx="6389077" cy="6274477"/>
          </a:xfrm>
          <a:custGeom>
            <a:avLst/>
            <a:gdLst/>
            <a:ahLst/>
            <a:cxnLst/>
            <a:rect l="l" t="t" r="r" b="b"/>
            <a:pathLst>
              <a:path w="6389077" h="6274477">
                <a:moveTo>
                  <a:pt x="0" y="0"/>
                </a:moveTo>
                <a:lnTo>
                  <a:pt x="6389077" y="0"/>
                </a:lnTo>
                <a:lnTo>
                  <a:pt x="6389077" y="6274477"/>
                </a:lnTo>
                <a:lnTo>
                  <a:pt x="0" y="62744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08" r="-398" b="-130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9650350" y="4152900"/>
            <a:ext cx="7951865" cy="2937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98"/>
              </a:lnSpc>
              <a:spcBef>
                <a:spcPct val="0"/>
              </a:spcBef>
            </a:pPr>
            <a:r>
              <a:rPr lang="en-US" sz="3532" b="1" dirty="0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Output Interpretation:</a:t>
            </a:r>
          </a:p>
          <a:p>
            <a:pPr algn="l">
              <a:lnSpc>
                <a:spcPts val="4458"/>
              </a:lnSpc>
              <a:spcBef>
                <a:spcPct val="0"/>
              </a:spcBef>
            </a:pPr>
            <a:r>
              <a:rPr lang="en-US" sz="2972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Left region: Genes unique to Dataset 1.</a:t>
            </a:r>
          </a:p>
          <a:p>
            <a:pPr algn="l">
              <a:lnSpc>
                <a:spcPts val="4458"/>
              </a:lnSpc>
              <a:spcBef>
                <a:spcPct val="0"/>
              </a:spcBef>
            </a:pPr>
            <a:r>
              <a:rPr lang="en-US" sz="2972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Right region: Genes unique to Dataset 2.</a:t>
            </a:r>
          </a:p>
          <a:p>
            <a:pPr algn="l">
              <a:lnSpc>
                <a:spcPts val="4458"/>
              </a:lnSpc>
              <a:spcBef>
                <a:spcPct val="0"/>
              </a:spcBef>
            </a:pPr>
            <a:r>
              <a:rPr lang="en-US" sz="2972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Center region: Common DEGs (potential</a:t>
            </a:r>
          </a:p>
          <a:p>
            <a:pPr algn="l">
              <a:lnSpc>
                <a:spcPts val="4458"/>
              </a:lnSpc>
              <a:spcBef>
                <a:spcPct val="0"/>
              </a:spcBef>
            </a:pPr>
            <a:r>
              <a:rPr lang="en-US" sz="2972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core biomarkers).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245349" y="371868"/>
            <a:ext cx="8174831" cy="83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  <a:spcBef>
                <a:spcPct val="0"/>
              </a:spcBef>
            </a:pPr>
            <a:r>
              <a:rPr lang="en-US" sz="462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Venn Diagram Code &amp; Plot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83284" y="1782748"/>
            <a:ext cx="9304716" cy="2655531"/>
            <a:chOff x="0" y="0"/>
            <a:chExt cx="6606956" cy="18856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6969" cy="1885664"/>
            </a:xfrm>
            <a:custGeom>
              <a:avLst/>
              <a:gdLst/>
              <a:ahLst/>
              <a:cxnLst/>
              <a:rect l="l" t="t" r="r" b="b"/>
              <a:pathLst>
                <a:path w="6606969" h="1885664">
                  <a:moveTo>
                    <a:pt x="0" y="0"/>
                  </a:moveTo>
                  <a:lnTo>
                    <a:pt x="6606969" y="0"/>
                  </a:lnTo>
                  <a:lnTo>
                    <a:pt x="6606969" y="1885664"/>
                  </a:lnTo>
                  <a:lnTo>
                    <a:pt x="0" y="1885664"/>
                  </a:ln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556078" y="1932414"/>
            <a:ext cx="6389077" cy="6274477"/>
          </a:xfrm>
          <a:custGeom>
            <a:avLst/>
            <a:gdLst/>
            <a:ahLst/>
            <a:cxnLst/>
            <a:rect l="l" t="t" r="r" b="b"/>
            <a:pathLst>
              <a:path w="6389077" h="6274477">
                <a:moveTo>
                  <a:pt x="0" y="0"/>
                </a:moveTo>
                <a:lnTo>
                  <a:pt x="6389077" y="0"/>
                </a:lnTo>
                <a:lnTo>
                  <a:pt x="6389077" y="6274477"/>
                </a:lnTo>
                <a:lnTo>
                  <a:pt x="0" y="62744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08" r="-398" b="-130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981227" y="371868"/>
            <a:ext cx="12703076" cy="83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  <a:spcBef>
                <a:spcPct val="0"/>
              </a:spcBef>
            </a:pPr>
            <a:r>
              <a:rPr lang="en-US" sz="462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NCL And it’s association with Covid &amp; AD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73409" y="1952195"/>
            <a:ext cx="9066991" cy="2958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6"/>
              </a:lnSpc>
            </a:pPr>
            <a:r>
              <a:rPr lang="en-US" sz="225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one shared and common DEG between both diseases is NCL (Nucleolin).</a:t>
            </a:r>
          </a:p>
          <a:p>
            <a:pPr algn="l">
              <a:lnSpc>
                <a:spcPts val="3386"/>
              </a:lnSpc>
            </a:pPr>
            <a:r>
              <a:rPr lang="en-US" sz="225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 Covid, it’s known for activation of inflammatory signaling cascades. </a:t>
            </a:r>
          </a:p>
          <a:p>
            <a:pPr algn="l">
              <a:lnSpc>
                <a:spcPts val="3386"/>
              </a:lnSpc>
            </a:pPr>
            <a:r>
              <a:rPr lang="en-US" sz="225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 AD, it’s associated with dysregulated neuroinflammation.</a:t>
            </a:r>
          </a:p>
          <a:p>
            <a:pPr algn="l">
              <a:lnSpc>
                <a:spcPts val="3386"/>
              </a:lnSpc>
            </a:pPr>
            <a:endParaRPr lang="en-US" sz="2257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386"/>
              </a:lnSpc>
              <a:spcBef>
                <a:spcPct val="0"/>
              </a:spcBef>
            </a:pPr>
            <a:endParaRPr lang="en-US" sz="2257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8787282" y="4910882"/>
            <a:ext cx="9304716" cy="4645623"/>
            <a:chOff x="0" y="0"/>
            <a:chExt cx="6606956" cy="329869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06969" cy="3298760"/>
            </a:xfrm>
            <a:custGeom>
              <a:avLst/>
              <a:gdLst/>
              <a:ahLst/>
              <a:cxnLst/>
              <a:rect l="l" t="t" r="r" b="b"/>
              <a:pathLst>
                <a:path w="6606969" h="3298760">
                  <a:moveTo>
                    <a:pt x="0" y="0"/>
                  </a:moveTo>
                  <a:lnTo>
                    <a:pt x="6606969" y="0"/>
                  </a:lnTo>
                  <a:lnTo>
                    <a:pt x="6606969" y="3298760"/>
                  </a:lnTo>
                  <a:lnTo>
                    <a:pt x="0" y="3298760"/>
                  </a:ln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983284" y="5067300"/>
            <a:ext cx="6454478" cy="47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8"/>
              </a:lnSpc>
              <a:spcBef>
                <a:spcPct val="0"/>
              </a:spcBef>
            </a:pPr>
            <a:r>
              <a:rPr lang="en-US" sz="2658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NCL is a significant biomarker?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87282" y="5749626"/>
            <a:ext cx="9304716" cy="3508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4039" lvl="1" indent="-287019" algn="l">
              <a:lnSpc>
                <a:spcPts val="3988"/>
              </a:lnSpc>
              <a:buFont typeface="Arial"/>
              <a:buChar char="•"/>
            </a:pPr>
            <a:r>
              <a:rPr lang="en-US" sz="265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Common pathway: Both diseases involve chronic inflammation and cellular stress</a:t>
            </a:r>
          </a:p>
          <a:p>
            <a:pPr marL="574039" lvl="1" indent="-287019" algn="l">
              <a:lnSpc>
                <a:spcPts val="3988"/>
              </a:lnSpc>
              <a:buFont typeface="Arial"/>
              <a:buChar char="•"/>
            </a:pPr>
            <a:r>
              <a:rPr lang="en-US" sz="265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Neuroinflammation: Links systemic inflammation (COVID) to neurodegeneration (AD)</a:t>
            </a:r>
          </a:p>
          <a:p>
            <a:pPr marL="574039" lvl="1" indent="-287019" algn="l">
              <a:lnSpc>
                <a:spcPts val="3988"/>
              </a:lnSpc>
              <a:buFont typeface="Arial"/>
              <a:buChar char="•"/>
            </a:pPr>
            <a:r>
              <a:rPr lang="en-US" sz="265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Dual role: Indicates both acute viral stress and chronic neurodegenerative changes</a:t>
            </a:r>
          </a:p>
          <a:p>
            <a:pPr algn="l">
              <a:lnSpc>
                <a:spcPts val="3988"/>
              </a:lnSpc>
              <a:spcBef>
                <a:spcPct val="0"/>
              </a:spcBef>
            </a:pPr>
            <a:endParaRPr lang="en-US" sz="2658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63399" y="4432856"/>
            <a:ext cx="5764411" cy="1306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  <a:spcBef>
                <a:spcPct val="0"/>
              </a:spcBef>
            </a:pPr>
            <a:r>
              <a:rPr lang="en-US" sz="7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613</Words>
  <Application>Microsoft Office PowerPoint</Application>
  <PresentationFormat>Custom</PresentationFormat>
  <Paragraphs>79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Times New Roman</vt:lpstr>
      <vt:lpstr>Montserrat Bold</vt:lpstr>
      <vt:lpstr>Montserrat</vt:lpstr>
      <vt:lpstr>Calibri</vt:lpstr>
      <vt:lpstr>Arial</vt:lpstr>
      <vt:lpstr>Source Sans 3 Bold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Discovering-Common-Molecular-Pathways-Between-SARS-CoV-2-and-Alzheimers-Disease (1).pptx</dc:title>
  <dc:creator>hp</dc:creator>
  <cp:lastModifiedBy>Injy Hatem Amin AbdelRehim</cp:lastModifiedBy>
  <cp:revision>3</cp:revision>
  <dcterms:created xsi:type="dcterms:W3CDTF">2006-08-16T00:00:00Z</dcterms:created>
  <dcterms:modified xsi:type="dcterms:W3CDTF">2026-01-18T05:10:53Z</dcterms:modified>
  <dc:identifier>DAG-un-X0PY</dc:identifier>
</cp:coreProperties>
</file>